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CA8E4-2B13-43E4-9BC1-57C593420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D557DC-C770-4B5B-8023-5171805C0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2CEFC3-CA1A-4485-AAB7-3F07E111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427172-38AE-489E-A218-73C66CE40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700534-D9D1-45E9-AC2A-09C207DF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516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7CFE-09EE-4094-8A58-AC898D73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A88F6-D8D6-485D-8B73-2700426CB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CEBD8-9E5E-48DD-B07B-7C655BAF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C38F2-1AA0-4A8A-8CB0-5F0077D4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FF20FD-C1B9-4B45-8CD5-D348B4E23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119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7D6E1-1853-4E36-9308-05C55081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812025-550F-49D7-89FA-C2835FFF6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B0DFA3-4951-4DD8-BE6A-91B5D94B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0E5CFD-0D36-45DC-A47C-6999D5CA5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9118BE-9D88-4EDC-8150-0652BD25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BBB89-30E0-497E-AA8D-FB2F310C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432AC7-FD61-4522-A557-2943E1D61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F4D406-E167-4A1B-947D-F61CE96A4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7E0545-6FE3-4FA4-B33F-F3266FA7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36451B-B14A-4573-B34C-ECCDF374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0B66F5-9163-4AE7-BA31-80968876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273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2386C-8E0F-4A69-9496-5835A4D3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73C327-776D-4062-A892-CA7EDF042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2166E1-5294-4510-B233-ADA4799E7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D6A33D-EE75-4020-A31F-048969503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78C381-80E2-47D5-B930-FD6B9A81DD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0B326BA-E118-477F-9BA9-11016E7D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891BEEA-2DB7-4DA5-A0DF-EC9C8BC8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7CE69D-7103-463B-B2EF-FECFC7CC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1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88E2A-E99C-4164-8918-8AC66377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9FEFB1-059D-407B-BE70-DF7003EB4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C98ABA-B5FE-4464-B1CA-838621CD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A63E47-185E-4C7F-9F30-427C05FB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996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72489B-F7DA-47DE-8AB0-F6F76A37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24253C-07E1-40C5-8F30-FD8794A6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D28794-E036-4241-86E1-926CE0D9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85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503E0-FA98-4DE3-A680-52F65275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F306C9-E65E-44BD-87E0-6C93A3E8E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70CF4D-F3B4-4DA4-ADCC-E58D96E4C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11122-E9B7-4B0C-80E4-707DB03D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1485FD-329E-40B1-A1FF-9240BC8C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F52817-273D-4B03-ABAB-1810652B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6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EAF47-D17B-4E40-A685-9F5EC091B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325A6E-670B-4FE4-9FD6-2E2E511E2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5B0893-326A-4E71-B680-68A908295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8C8FB8-9ABE-4E7A-AC1E-0DA52C20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CD0035-6730-48CB-97C4-480B46146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107BAC-8E1A-4181-85D6-31CEC3991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08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EC558-207D-4763-90F1-5146E8F2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6E7693-AB7B-440A-81BB-816C92934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C6C9-381A-48DD-8091-94B9D5ECF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494226-855D-417A-85C3-780FF4C7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AF2913-1D90-467D-9202-8E429848E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98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0B734F-05DD-4A42-A979-4566DE0BE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888B02-CC87-4FC3-A58A-D0D115342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FC54F9-1EC4-421D-87C3-49E68BE5B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E92FB3-2F9E-4978-85AC-6C73A261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F6E12-DB97-48D7-8994-C4E891A3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97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142681-6782-4346-A505-489C2B48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2FA609-F819-415C-A3C6-42F48936E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65F09E-C0B0-4514-8BA4-8F6A1BBD3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1A456-30BA-4864-823C-2BA4C079510B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93C6AE-E884-473E-8B7B-61C3110A4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84A4E6-8017-4B81-AF97-054994181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AA407-9FA9-4C2C-BD31-3A50A3CBD0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84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file:///\\10.10.5.56\sas-home\DDT\projects\HRS2129\HRS2129_test\csr_01\utility\metadata\t14_1-1_1_final.xlsx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file:///\\10.10.5.56\sas-home\DDT\projects\HRS2129\HRS2129_test\csr_01\utility\metadata\t14_1-1_1_final.xls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file:///\\10.10.5.56\sas-home\DDT\projects\HRS2129\HRS2129_test\csr_01\utility\metadata\t14_1-1_1_final.xlsx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file:///\\10.10.5.56\sas-home\DDT\projects\HRS2129\HRS2129_test\csr_01\utility\metadata\t14_1-1_1_final.xlsx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file:///\\10.10.5.56\sas-home\DDT\projects\HRS2129\HRS2129_test\csr_01\utility\metadata\t14_1-1_1_final.xlsx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file:///\\10.10.5.56\sas-home\DDT\projects\HRS2129\HRS2129_test\csr_01\utility\metadata\t14_1-1_1_final.xlsx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8A2877-550F-4774-8FCB-78F90567D62B}"/>
              </a:ext>
            </a:extLst>
          </p:cNvPr>
          <p:cNvSpPr txBox="1"/>
          <p:nvPr/>
        </p:nvSpPr>
        <p:spPr>
          <a:xfrm>
            <a:off x="513806" y="357051"/>
            <a:ext cx="8891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最终生成的结果为：</a:t>
            </a:r>
            <a:r>
              <a:rPr lang="zh-CN" altLang="en-US" dirty="0">
                <a:hlinkClick r:id="rId2" action="ppaction://hlinkfile"/>
              </a:rPr>
              <a:t>见</a:t>
            </a:r>
            <a:r>
              <a:rPr lang="en-US" altLang="zh-CN" dirty="0">
                <a:hlinkClick r:id="rId2" action="ppaction://hlinkfile"/>
              </a:rPr>
              <a:t>excel</a:t>
            </a:r>
            <a:r>
              <a:rPr lang="zh-CN" altLang="en-US" dirty="0">
                <a:hlinkClick r:id="rId2" action="ppaction://hlinkfile"/>
              </a:rPr>
              <a:t>文件 </a:t>
            </a:r>
            <a:r>
              <a:rPr lang="en-US" altLang="zh-CN" dirty="0"/>
              <a:t>Z:\projects\HRS2129\HRS2129_test\csr_01\utility\metadata\t14_1-1_1_final.xlsx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57B06D-46A0-45F1-B089-E942BCEC5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31" y="1338216"/>
            <a:ext cx="10830869" cy="54283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75E45A-F376-488A-8B71-A7DB18494EFE}"/>
              </a:ext>
            </a:extLst>
          </p:cNvPr>
          <p:cNvSpPr txBox="1"/>
          <p:nvPr/>
        </p:nvSpPr>
        <p:spPr>
          <a:xfrm>
            <a:off x="731519" y="2316480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前两行直接赋值产生；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对于第三行：</a:t>
            </a:r>
            <a:endParaRPr lang="en-US" altLang="zh-CN" dirty="0"/>
          </a:p>
          <a:p>
            <a:r>
              <a:rPr lang="zh-CN" altLang="en-US" dirty="0"/>
              <a:t>搜索</a:t>
            </a:r>
            <a:r>
              <a:rPr lang="en-US" altLang="zh-CN" dirty="0"/>
              <a:t>ADAM_PDS</a:t>
            </a:r>
            <a:r>
              <a:rPr lang="zh-CN" altLang="en-US" dirty="0"/>
              <a:t>文件 </a:t>
            </a:r>
            <a:r>
              <a:rPr lang="en-US" altLang="zh-CN" dirty="0"/>
              <a:t>Variables sheet Dataset</a:t>
            </a:r>
            <a:r>
              <a:rPr lang="zh-CN" altLang="en-US" dirty="0"/>
              <a:t>列</a:t>
            </a:r>
            <a:r>
              <a:rPr lang="en-US" altLang="zh-CN" dirty="0"/>
              <a:t>=ADSL</a:t>
            </a:r>
            <a:r>
              <a:rPr lang="zh-CN" altLang="en-US" dirty="0"/>
              <a:t>， </a:t>
            </a:r>
            <a:r>
              <a:rPr lang="en-US" altLang="zh-CN" dirty="0"/>
              <a:t>Variable </a:t>
            </a:r>
            <a:r>
              <a:rPr lang="zh-CN" altLang="en-US" dirty="0"/>
              <a:t>列值是否有变量</a:t>
            </a:r>
            <a:r>
              <a:rPr lang="en-US" altLang="zh-CN" dirty="0"/>
              <a:t>RANDFL</a:t>
            </a:r>
            <a:r>
              <a:rPr lang="zh-CN" altLang="en-US" dirty="0"/>
              <a:t>：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文件名为： 前四个下拉框 </a:t>
            </a:r>
            <a:r>
              <a:rPr lang="en-US" altLang="zh-CN" dirty="0"/>
              <a:t>+ “\utility\documentation\” + </a:t>
            </a:r>
            <a:r>
              <a:rPr lang="zh-CN" altLang="en-US" dirty="0"/>
              <a:t>“第</a:t>
            </a:r>
            <a:r>
              <a:rPr lang="en-US" altLang="zh-CN" dirty="0"/>
              <a:t>3</a:t>
            </a:r>
            <a:r>
              <a:rPr lang="zh-CN" altLang="en-US" dirty="0"/>
              <a:t>个下拉框值</a:t>
            </a:r>
            <a:r>
              <a:rPr lang="en-US" altLang="zh-CN" dirty="0"/>
              <a:t>+</a:t>
            </a:r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个下拉框值</a:t>
            </a:r>
            <a:r>
              <a:rPr lang="en-US" altLang="zh-CN" dirty="0"/>
              <a:t>_ADAM_PDS.xlsx“ </a:t>
            </a:r>
            <a:r>
              <a:rPr lang="zh-CN" altLang="en-US" dirty="0"/>
              <a:t>文件。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比如第</a:t>
            </a:r>
            <a:r>
              <a:rPr lang="en-US" altLang="zh-CN" dirty="0"/>
              <a:t>3</a:t>
            </a:r>
            <a:r>
              <a:rPr lang="zh-CN" altLang="en-US" dirty="0"/>
              <a:t>个下拉框值为： </a:t>
            </a:r>
            <a:r>
              <a:rPr lang="en-US" altLang="zh-CN" dirty="0"/>
              <a:t>HRS2129_test</a:t>
            </a:r>
            <a:r>
              <a:rPr lang="zh-CN" altLang="en-US" dirty="0"/>
              <a:t>， 第</a:t>
            </a:r>
            <a:r>
              <a:rPr lang="en-US" altLang="zh-CN" dirty="0"/>
              <a:t>4</a:t>
            </a:r>
            <a:r>
              <a:rPr lang="zh-CN" altLang="en-US" dirty="0"/>
              <a:t>个下拉框值为：</a:t>
            </a:r>
            <a:r>
              <a:rPr lang="en-US" altLang="zh-CN" dirty="0"/>
              <a:t>csr_01</a:t>
            </a:r>
            <a:r>
              <a:rPr lang="zh-CN" altLang="en-US" dirty="0"/>
              <a:t>， 那么需要搜索的文件名为 </a:t>
            </a:r>
            <a:r>
              <a:rPr lang="en-US" altLang="zh-CN" dirty="0"/>
              <a:t>HRS2129_test_csr_01_ADAM_PDS.xlsx</a:t>
            </a:r>
          </a:p>
          <a:p>
            <a:endParaRPr lang="en-US" altLang="zh-CN" dirty="0"/>
          </a:p>
          <a:p>
            <a:r>
              <a:rPr lang="zh-CN" altLang="en-US" dirty="0"/>
              <a:t>若</a:t>
            </a:r>
            <a:r>
              <a:rPr lang="en-US" altLang="zh-CN" dirty="0"/>
              <a:t>Variable </a:t>
            </a:r>
            <a:r>
              <a:rPr lang="zh-CN" altLang="en-US" dirty="0"/>
              <a:t>列值有变量</a:t>
            </a:r>
            <a:r>
              <a:rPr lang="en-US" altLang="zh-CN" dirty="0"/>
              <a:t>RANDFL</a:t>
            </a:r>
            <a:r>
              <a:rPr lang="zh-CN" altLang="en-US" dirty="0"/>
              <a:t>， 则产生第三行；若没有</a:t>
            </a:r>
            <a:r>
              <a:rPr lang="en-US" altLang="zh-CN" dirty="0"/>
              <a:t>RANDFL</a:t>
            </a:r>
            <a:r>
              <a:rPr lang="zh-CN" altLang="en-US" dirty="0"/>
              <a:t>，但是有</a:t>
            </a:r>
            <a:r>
              <a:rPr lang="en-US" altLang="zh-CN" dirty="0"/>
              <a:t>RANDFL</a:t>
            </a:r>
            <a:r>
              <a:rPr lang="zh-CN" altLang="en-US" dirty="0"/>
              <a:t>的话：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则表格中的“随机”受试者全部改成“入组”， 同时</a:t>
            </a:r>
            <a:r>
              <a:rPr lang="en-US" altLang="zh-CN" dirty="0"/>
              <a:t>FILTTER</a:t>
            </a:r>
            <a:r>
              <a:rPr lang="zh-CN" altLang="en-US" dirty="0"/>
              <a:t>列筛选条件中</a:t>
            </a:r>
            <a:r>
              <a:rPr lang="en-US" altLang="zh-CN" dirty="0" err="1"/>
              <a:t>randfl</a:t>
            </a:r>
            <a:r>
              <a:rPr lang="en-US" altLang="zh-CN" dirty="0"/>
              <a:t> </a:t>
            </a:r>
            <a:r>
              <a:rPr lang="zh-CN" altLang="en-US" dirty="0"/>
              <a:t>改成</a:t>
            </a:r>
            <a:r>
              <a:rPr lang="en-US" altLang="zh-CN" dirty="0" err="1"/>
              <a:t>enrlfl</a:t>
            </a:r>
            <a:r>
              <a:rPr lang="en-US" altLang="zh-CN" dirty="0"/>
              <a:t>=</a:t>
            </a:r>
            <a:r>
              <a:rPr lang="zh-CN" altLang="en-US" dirty="0"/>
              <a:t>‘</a:t>
            </a:r>
            <a:r>
              <a:rPr lang="en-US" altLang="zh-CN" dirty="0"/>
              <a:t>Y’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0348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8A2877-550F-4774-8FCB-78F90567D62B}"/>
              </a:ext>
            </a:extLst>
          </p:cNvPr>
          <p:cNvSpPr txBox="1"/>
          <p:nvPr/>
        </p:nvSpPr>
        <p:spPr>
          <a:xfrm>
            <a:off x="513806" y="357051"/>
            <a:ext cx="8891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最终生成的结果为：</a:t>
            </a:r>
            <a:r>
              <a:rPr lang="zh-CN" altLang="en-US" dirty="0">
                <a:hlinkClick r:id="rId2" action="ppaction://hlinkfile"/>
              </a:rPr>
              <a:t>见</a:t>
            </a:r>
            <a:r>
              <a:rPr lang="en-US" altLang="zh-CN" dirty="0">
                <a:hlinkClick r:id="rId2" action="ppaction://hlinkfile"/>
              </a:rPr>
              <a:t>excel</a:t>
            </a:r>
            <a:r>
              <a:rPr lang="zh-CN" altLang="en-US" dirty="0">
                <a:hlinkClick r:id="rId2" action="ppaction://hlinkfile"/>
              </a:rPr>
              <a:t>文件 </a:t>
            </a:r>
            <a:r>
              <a:rPr lang="en-US" altLang="zh-CN" dirty="0"/>
              <a:t>Z:\projects\HRS2129\HRS2129_test\csr_01\utility\metadata\t14_1-1_1_final.xlsx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281533F-85EB-467C-98F4-EE1799824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1170960"/>
            <a:ext cx="12192000" cy="6494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706B380-8245-4FC1-B6BB-719193947C77}"/>
              </a:ext>
            </a:extLst>
          </p:cNvPr>
          <p:cNvSpPr txBox="1"/>
          <p:nvPr/>
        </p:nvSpPr>
        <p:spPr>
          <a:xfrm>
            <a:off x="731519" y="231648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搜索</a:t>
            </a:r>
            <a:r>
              <a:rPr lang="en-US" altLang="zh-CN" dirty="0"/>
              <a:t>ADAM_PDS</a:t>
            </a:r>
            <a:r>
              <a:rPr lang="zh-CN" altLang="en-US" dirty="0"/>
              <a:t>文件 </a:t>
            </a:r>
            <a:r>
              <a:rPr lang="en-US" altLang="zh-CN" dirty="0"/>
              <a:t>Variables sheet Dataset</a:t>
            </a:r>
            <a:r>
              <a:rPr lang="zh-CN" altLang="en-US" dirty="0"/>
              <a:t>列</a:t>
            </a:r>
            <a:r>
              <a:rPr lang="en-US" altLang="zh-CN" dirty="0"/>
              <a:t>=ADSL</a:t>
            </a:r>
            <a:r>
              <a:rPr lang="zh-CN" altLang="en-US" dirty="0"/>
              <a:t>， </a:t>
            </a:r>
            <a:r>
              <a:rPr lang="en-US" altLang="zh-CN" dirty="0"/>
              <a:t>Variable </a:t>
            </a:r>
            <a:r>
              <a:rPr lang="zh-CN" altLang="en-US" dirty="0"/>
              <a:t>列值是否有变量</a:t>
            </a:r>
            <a:r>
              <a:rPr lang="en-US" altLang="zh-CN" dirty="0"/>
              <a:t>ENRLFL/RANDFL</a:t>
            </a:r>
            <a:r>
              <a:rPr lang="zh-CN" altLang="en-US" dirty="0"/>
              <a:t>：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文件名为： 前四个下拉框 </a:t>
            </a:r>
            <a:r>
              <a:rPr lang="en-US" altLang="zh-CN" dirty="0"/>
              <a:t>+ “\utility\documentation\” + </a:t>
            </a:r>
            <a:r>
              <a:rPr lang="zh-CN" altLang="en-US" dirty="0"/>
              <a:t>“第</a:t>
            </a:r>
            <a:r>
              <a:rPr lang="en-US" altLang="zh-CN" dirty="0"/>
              <a:t>3</a:t>
            </a:r>
            <a:r>
              <a:rPr lang="zh-CN" altLang="en-US" dirty="0"/>
              <a:t>个下拉框值</a:t>
            </a:r>
            <a:r>
              <a:rPr lang="en-US" altLang="zh-CN" dirty="0"/>
              <a:t>+</a:t>
            </a:r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个下拉框值</a:t>
            </a:r>
            <a:r>
              <a:rPr lang="en-US" altLang="zh-CN" dirty="0"/>
              <a:t>_ADAM_PDS.xlsx“ </a:t>
            </a:r>
            <a:r>
              <a:rPr lang="zh-CN" altLang="en-US" dirty="0"/>
              <a:t>文件。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比如第</a:t>
            </a:r>
            <a:r>
              <a:rPr lang="en-US" altLang="zh-CN" dirty="0"/>
              <a:t>3</a:t>
            </a:r>
            <a:r>
              <a:rPr lang="zh-CN" altLang="en-US" dirty="0"/>
              <a:t>个下拉框值为： </a:t>
            </a:r>
            <a:r>
              <a:rPr lang="en-US" altLang="zh-CN" dirty="0"/>
              <a:t>HRS2129_test</a:t>
            </a:r>
            <a:r>
              <a:rPr lang="zh-CN" altLang="en-US" dirty="0"/>
              <a:t>， 第</a:t>
            </a:r>
            <a:r>
              <a:rPr lang="en-US" altLang="zh-CN" dirty="0"/>
              <a:t>4</a:t>
            </a:r>
            <a:r>
              <a:rPr lang="zh-CN" altLang="en-US" dirty="0"/>
              <a:t>个下拉框值为：</a:t>
            </a:r>
            <a:r>
              <a:rPr lang="en-US" altLang="zh-CN" dirty="0"/>
              <a:t>csr_01</a:t>
            </a:r>
            <a:r>
              <a:rPr lang="zh-CN" altLang="en-US" dirty="0"/>
              <a:t>， 那么需要搜索的文件名为 </a:t>
            </a:r>
            <a:r>
              <a:rPr lang="en-US" altLang="zh-CN" dirty="0"/>
              <a:t>HRS2129_test_csr_01_ADAM_PDS.xlsx</a:t>
            </a:r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若</a:t>
            </a:r>
            <a:r>
              <a:rPr lang="en-US" altLang="zh-CN" dirty="0"/>
              <a:t>Variable </a:t>
            </a:r>
            <a:r>
              <a:rPr lang="zh-CN" altLang="en-US" dirty="0"/>
              <a:t>列值有</a:t>
            </a:r>
            <a:r>
              <a:rPr lang="en-US" altLang="zh-CN" dirty="0"/>
              <a:t>ENRLFL</a:t>
            </a:r>
            <a:r>
              <a:rPr lang="zh-CN" altLang="en-US" dirty="0"/>
              <a:t>的话：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则表格中的随机受试者全部改成“入组受试者”， 同时</a:t>
            </a:r>
            <a:r>
              <a:rPr lang="en-US" altLang="zh-CN" dirty="0"/>
              <a:t>FILTTER</a:t>
            </a:r>
            <a:r>
              <a:rPr lang="zh-CN" altLang="en-US" dirty="0"/>
              <a:t>列筛选条件中</a:t>
            </a:r>
            <a:r>
              <a:rPr lang="en-US" altLang="zh-CN" dirty="0" err="1"/>
              <a:t>randfl</a:t>
            </a:r>
            <a:r>
              <a:rPr lang="en-US" altLang="zh-CN" dirty="0"/>
              <a:t> </a:t>
            </a:r>
            <a:r>
              <a:rPr lang="zh-CN" altLang="en-US" dirty="0"/>
              <a:t>改成</a:t>
            </a:r>
            <a:r>
              <a:rPr lang="en-US" altLang="zh-CN" dirty="0" err="1"/>
              <a:t>enrlfl</a:t>
            </a:r>
            <a:r>
              <a:rPr lang="en-US" altLang="zh-CN" dirty="0"/>
              <a:t>=</a:t>
            </a:r>
            <a:r>
              <a:rPr lang="zh-CN" altLang="en-US" dirty="0"/>
              <a:t>‘</a:t>
            </a:r>
            <a:r>
              <a:rPr lang="en-US" altLang="zh-CN" dirty="0"/>
              <a:t>Y’;</a:t>
            </a:r>
            <a:r>
              <a:rPr lang="zh-CN" altLang="en-US" dirty="0"/>
              <a:t> 产生</a:t>
            </a:r>
            <a:r>
              <a:rPr lang="en-US" altLang="zh-CN" dirty="0"/>
              <a:t>3</a:t>
            </a:r>
            <a:r>
              <a:rPr lang="zh-CN" altLang="en-US" dirty="0"/>
              <a:t>行观测；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若</a:t>
            </a:r>
            <a:r>
              <a:rPr lang="en-US" altLang="zh-CN" dirty="0"/>
              <a:t>Variable </a:t>
            </a:r>
            <a:r>
              <a:rPr lang="zh-CN" altLang="en-US" dirty="0"/>
              <a:t>列值有变量</a:t>
            </a:r>
            <a:r>
              <a:rPr lang="en-US" altLang="zh-CN" dirty="0"/>
              <a:t>RANDFL</a:t>
            </a:r>
            <a:r>
              <a:rPr lang="zh-CN" altLang="en-US" dirty="0"/>
              <a:t>， 则产生图上的</a:t>
            </a:r>
            <a:r>
              <a:rPr lang="en-US" altLang="zh-CN" dirty="0"/>
              <a:t>3</a:t>
            </a:r>
            <a:r>
              <a:rPr lang="zh-CN" altLang="en-US" dirty="0"/>
              <a:t>行观测。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即：</a:t>
            </a:r>
            <a:r>
              <a:rPr lang="en-US" altLang="zh-CN" dirty="0"/>
              <a:t>ENRFL</a:t>
            </a:r>
            <a:r>
              <a:rPr lang="zh-CN" altLang="en-US" dirty="0"/>
              <a:t>和</a:t>
            </a:r>
            <a:r>
              <a:rPr lang="en-US" altLang="zh-CN" dirty="0"/>
              <a:t>RANDFL </a:t>
            </a:r>
            <a:r>
              <a:rPr lang="zh-CN" altLang="en-US" dirty="0"/>
              <a:t>均各自负责产生</a:t>
            </a:r>
            <a:r>
              <a:rPr lang="en-US" altLang="zh-CN" dirty="0"/>
              <a:t>3</a:t>
            </a:r>
            <a:r>
              <a:rPr lang="zh-CN" altLang="en-US" dirty="0"/>
              <a:t>行观测。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08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8A2877-550F-4774-8FCB-78F90567D62B}"/>
              </a:ext>
            </a:extLst>
          </p:cNvPr>
          <p:cNvSpPr txBox="1"/>
          <p:nvPr/>
        </p:nvSpPr>
        <p:spPr>
          <a:xfrm>
            <a:off x="513806" y="357051"/>
            <a:ext cx="8891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最终生成的结果为：</a:t>
            </a:r>
            <a:r>
              <a:rPr lang="zh-CN" altLang="en-US" dirty="0">
                <a:hlinkClick r:id="rId2" action="ppaction://hlinkfile"/>
              </a:rPr>
              <a:t>见</a:t>
            </a:r>
            <a:r>
              <a:rPr lang="en-US" altLang="zh-CN" dirty="0">
                <a:hlinkClick r:id="rId2" action="ppaction://hlinkfile"/>
              </a:rPr>
              <a:t>excel</a:t>
            </a:r>
            <a:r>
              <a:rPr lang="zh-CN" altLang="en-US" dirty="0">
                <a:hlinkClick r:id="rId2" action="ppaction://hlinkfile"/>
              </a:rPr>
              <a:t>文件 </a:t>
            </a:r>
            <a:r>
              <a:rPr lang="en-US" altLang="zh-CN" dirty="0"/>
              <a:t>Z:\projects\HRS2129\HRS2129_test\csr_01\utility\metadata\t14_1-1_1_final.xlsx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31A577B-BD5E-4C11-ACAE-CD42384BB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2333"/>
            <a:ext cx="12192000" cy="19859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262D94C-65A8-4786-B91A-9A2CA140DCE0}"/>
              </a:ext>
            </a:extLst>
          </p:cNvPr>
          <p:cNvSpPr txBox="1"/>
          <p:nvPr/>
        </p:nvSpPr>
        <p:spPr>
          <a:xfrm>
            <a:off x="182882" y="3253762"/>
            <a:ext cx="113152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搜索</a:t>
            </a:r>
            <a:r>
              <a:rPr lang="en-US" altLang="zh-CN" dirty="0"/>
              <a:t>ADAM_PDS</a:t>
            </a:r>
            <a:r>
              <a:rPr lang="zh-CN" altLang="en-US" dirty="0"/>
              <a:t>文件 </a:t>
            </a:r>
            <a:r>
              <a:rPr lang="en-US" altLang="zh-CN" dirty="0"/>
              <a:t>Variables sheet Dataset</a:t>
            </a:r>
            <a:r>
              <a:rPr lang="zh-CN" altLang="en-US" dirty="0"/>
              <a:t>列</a:t>
            </a:r>
            <a:r>
              <a:rPr lang="en-US" altLang="zh-CN" dirty="0"/>
              <a:t>=ADSL</a:t>
            </a:r>
            <a:r>
              <a:rPr lang="zh-CN" altLang="en-US" dirty="0"/>
              <a:t>，</a:t>
            </a:r>
            <a:r>
              <a:rPr lang="en-US" altLang="zh-CN" dirty="0"/>
              <a:t>variable</a:t>
            </a:r>
            <a:r>
              <a:rPr lang="zh-CN" altLang="en-US" dirty="0"/>
              <a:t>列以“</a:t>
            </a:r>
            <a:r>
              <a:rPr lang="en-US" altLang="zh-CN" dirty="0"/>
              <a:t>EOTSTT”</a:t>
            </a:r>
            <a:r>
              <a:rPr lang="zh-CN" altLang="en-US" dirty="0"/>
              <a:t>开头且 </a:t>
            </a:r>
            <a:r>
              <a:rPr lang="en-US" altLang="zh-CN" dirty="0"/>
              <a:t>label</a:t>
            </a:r>
            <a:r>
              <a:rPr lang="zh-CN" altLang="en-US" dirty="0"/>
              <a:t>列： 含有“治疗”字眼：</a:t>
            </a:r>
            <a:endParaRPr lang="en-US" altLang="zh-CN" dirty="0"/>
          </a:p>
          <a:p>
            <a:r>
              <a:rPr lang="zh-CN" altLang="en-US" dirty="0"/>
              <a:t>若有类似变量（如</a:t>
            </a:r>
            <a:r>
              <a:rPr lang="en-US" altLang="zh-CN" dirty="0"/>
              <a:t>EOTSTT </a:t>
            </a:r>
            <a:r>
              <a:rPr lang="zh-CN" altLang="en-US" dirty="0"/>
              <a:t>， </a:t>
            </a:r>
            <a:r>
              <a:rPr lang="en-US" altLang="zh-CN" dirty="0"/>
              <a:t>EOTSTT1</a:t>
            </a:r>
            <a:r>
              <a:rPr lang="zh-CN" altLang="en-US" dirty="0"/>
              <a:t> ）根据</a:t>
            </a:r>
            <a:r>
              <a:rPr lang="en-US" altLang="zh-CN" dirty="0"/>
              <a:t>label </a:t>
            </a:r>
            <a:r>
              <a:rPr lang="zh-CN" altLang="en-US" dirty="0"/>
              <a:t>赋值前三行</a:t>
            </a:r>
            <a:r>
              <a:rPr lang="en-US" altLang="zh-CN" dirty="0"/>
              <a:t>TEXT </a:t>
            </a:r>
            <a:r>
              <a:rPr lang="zh-CN" altLang="en-US" dirty="0"/>
              <a:t>信息</a:t>
            </a:r>
            <a:endParaRPr lang="en-US" altLang="zh-CN" dirty="0"/>
          </a:p>
          <a:p>
            <a:r>
              <a:rPr lang="zh-CN" altLang="en-US" dirty="0"/>
              <a:t>“治疗结束状态” </a:t>
            </a:r>
            <a:r>
              <a:rPr lang="en-US" altLang="zh-CN" dirty="0"/>
              <a:t>-&gt;</a:t>
            </a:r>
            <a:r>
              <a:rPr lang="zh-CN" altLang="en-US" dirty="0"/>
              <a:t>分别替换为</a:t>
            </a:r>
            <a:r>
              <a:rPr lang="en-US" altLang="zh-CN" dirty="0"/>
              <a:t> </a:t>
            </a:r>
            <a:r>
              <a:rPr lang="zh-CN" altLang="en-US" dirty="0"/>
              <a:t>“完成</a:t>
            </a:r>
            <a:r>
              <a:rPr lang="en-US" altLang="zh-CN" dirty="0"/>
              <a:t>/</a:t>
            </a:r>
            <a:r>
              <a:rPr lang="zh-CN" altLang="en-US" dirty="0"/>
              <a:t>终止”研究治疗  （即前面分别加“完成</a:t>
            </a:r>
            <a:r>
              <a:rPr lang="en-US" altLang="zh-CN" dirty="0"/>
              <a:t>/</a:t>
            </a:r>
            <a:r>
              <a:rPr lang="zh-CN" altLang="en-US" dirty="0"/>
              <a:t>终止</a:t>
            </a:r>
            <a:r>
              <a:rPr lang="en-US" altLang="zh-CN" dirty="0"/>
              <a:t>” + “</a:t>
            </a:r>
            <a:r>
              <a:rPr lang="zh-CN" altLang="en-US" dirty="0"/>
              <a:t>研究” </a:t>
            </a:r>
            <a:r>
              <a:rPr lang="en-US" altLang="zh-CN" dirty="0"/>
              <a:t>+ Label</a:t>
            </a:r>
            <a:r>
              <a:rPr lang="zh-CN" altLang="en-US" dirty="0"/>
              <a:t>列值（需要去掉“结束状态</a:t>
            </a:r>
            <a:r>
              <a:rPr lang="en-US" altLang="zh-CN" dirty="0"/>
              <a:t>”</a:t>
            </a:r>
            <a:r>
              <a:rPr lang="zh-CN" altLang="en-US" dirty="0"/>
              <a:t>字眼）。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 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列的原因： 值与顺序见右侧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8C3A46-38EA-4399-B0FD-F4451C09D1D1}"/>
              </a:ext>
            </a:extLst>
          </p:cNvPr>
          <p:cNvSpPr/>
          <p:nvPr/>
        </p:nvSpPr>
        <p:spPr>
          <a:xfrm>
            <a:off x="17416" y="1645920"/>
            <a:ext cx="1105989" cy="145234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9E7B7BF-B03E-4BAC-A41F-6A8B11039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320" y="3429000"/>
            <a:ext cx="5991496" cy="325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70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8A2877-550F-4774-8FCB-78F90567D62B}"/>
              </a:ext>
            </a:extLst>
          </p:cNvPr>
          <p:cNvSpPr txBox="1"/>
          <p:nvPr/>
        </p:nvSpPr>
        <p:spPr>
          <a:xfrm>
            <a:off x="513806" y="357051"/>
            <a:ext cx="8891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最终生成的结果为：</a:t>
            </a:r>
            <a:r>
              <a:rPr lang="zh-CN" altLang="en-US" dirty="0">
                <a:hlinkClick r:id="rId2" action="ppaction://hlinkfile"/>
              </a:rPr>
              <a:t>见</a:t>
            </a:r>
            <a:r>
              <a:rPr lang="en-US" altLang="zh-CN" dirty="0">
                <a:hlinkClick r:id="rId2" action="ppaction://hlinkfile"/>
              </a:rPr>
              <a:t>excel</a:t>
            </a:r>
            <a:r>
              <a:rPr lang="zh-CN" altLang="en-US" dirty="0">
                <a:hlinkClick r:id="rId2" action="ppaction://hlinkfile"/>
              </a:rPr>
              <a:t>文件 </a:t>
            </a:r>
            <a:r>
              <a:rPr lang="en-US" altLang="zh-CN" dirty="0"/>
              <a:t>Z:\projects\HRS2129\HRS2129_test\csr_01\utility\metadata\t14_1-1_1_final.xlsx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CF0CAA-05A8-4E3A-8F50-DCF66F1FA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" y="1154256"/>
            <a:ext cx="12192000" cy="59579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69BDBDB-3FCC-4695-B64B-75F50634032F}"/>
              </a:ext>
            </a:extLst>
          </p:cNvPr>
          <p:cNvSpPr/>
          <p:nvPr/>
        </p:nvSpPr>
        <p:spPr>
          <a:xfrm>
            <a:off x="400595" y="1969200"/>
            <a:ext cx="103806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搜索</a:t>
            </a:r>
            <a:r>
              <a:rPr lang="en-US" altLang="zh-CN" dirty="0"/>
              <a:t>ADAM_PDS</a:t>
            </a:r>
            <a:r>
              <a:rPr lang="zh-CN" altLang="en-US" dirty="0"/>
              <a:t>文件 </a:t>
            </a:r>
            <a:r>
              <a:rPr lang="en-US" altLang="zh-CN" dirty="0"/>
              <a:t>Variables sheet Dataset</a:t>
            </a:r>
            <a:r>
              <a:rPr lang="zh-CN" altLang="en-US" dirty="0"/>
              <a:t>列</a:t>
            </a:r>
            <a:r>
              <a:rPr lang="en-US" altLang="zh-CN" dirty="0"/>
              <a:t>=ADSL</a:t>
            </a:r>
            <a:r>
              <a:rPr lang="zh-CN" altLang="en-US" dirty="0"/>
              <a:t>，</a:t>
            </a:r>
            <a:r>
              <a:rPr lang="en-US" altLang="zh-CN" dirty="0"/>
              <a:t>variable</a:t>
            </a:r>
            <a:r>
              <a:rPr lang="zh-CN" altLang="en-US" dirty="0"/>
              <a:t>列值</a:t>
            </a:r>
            <a:r>
              <a:rPr lang="en-US" altLang="zh-CN" dirty="0"/>
              <a:t>=</a:t>
            </a:r>
            <a:r>
              <a:rPr lang="zh-CN" altLang="en-US" dirty="0"/>
              <a:t>“</a:t>
            </a:r>
            <a:r>
              <a:rPr lang="en-US" altLang="zh-CN" dirty="0"/>
              <a:t>EOSSTT”</a:t>
            </a:r>
          </a:p>
          <a:p>
            <a:r>
              <a:rPr lang="zh-CN" altLang="en-US" dirty="0"/>
              <a:t>若存在该变量： 则产生这三行。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8494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8A2877-550F-4774-8FCB-78F90567D62B}"/>
              </a:ext>
            </a:extLst>
          </p:cNvPr>
          <p:cNvSpPr txBox="1"/>
          <p:nvPr/>
        </p:nvSpPr>
        <p:spPr>
          <a:xfrm>
            <a:off x="513806" y="357051"/>
            <a:ext cx="8891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最终生成的结果为：</a:t>
            </a:r>
            <a:r>
              <a:rPr lang="zh-CN" altLang="en-US" dirty="0">
                <a:hlinkClick r:id="rId2" action="ppaction://hlinkfile"/>
              </a:rPr>
              <a:t>见</a:t>
            </a:r>
            <a:r>
              <a:rPr lang="en-US" altLang="zh-CN" dirty="0">
                <a:hlinkClick r:id="rId2" action="ppaction://hlinkfile"/>
              </a:rPr>
              <a:t>excel</a:t>
            </a:r>
            <a:r>
              <a:rPr lang="zh-CN" altLang="en-US" dirty="0">
                <a:hlinkClick r:id="rId2" action="ppaction://hlinkfile"/>
              </a:rPr>
              <a:t>文件 </a:t>
            </a:r>
            <a:r>
              <a:rPr lang="en-US" altLang="zh-CN" dirty="0"/>
              <a:t>Z:\projects\HRS2129\HRS2129_test\csr_01\utility\metadata\t14_1-1_1_final.xlsx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853241-2453-4406-8E47-31FFDAEAA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9" y="1003382"/>
            <a:ext cx="12192000" cy="297720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AF41C26-A67A-4BE9-B19D-AA6FB133EDB7}"/>
              </a:ext>
            </a:extLst>
          </p:cNvPr>
          <p:cNvSpPr txBox="1"/>
          <p:nvPr/>
        </p:nvSpPr>
        <p:spPr>
          <a:xfrm flipH="1">
            <a:off x="341484" y="4442248"/>
            <a:ext cx="4509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TEXT</a:t>
            </a:r>
            <a:r>
              <a:rPr lang="zh-CN" altLang="en-US" dirty="0"/>
              <a:t>列的原因： 值与顺序见右侧；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请注意；</a:t>
            </a:r>
            <a:endParaRPr lang="en-US" altLang="zh-CN" dirty="0"/>
          </a:p>
          <a:p>
            <a:r>
              <a:rPr lang="zh-CN" altLang="en-US" dirty="0"/>
              <a:t>每一行原因后增加一行： 随机未接受研究治疗行， 并且留意</a:t>
            </a:r>
            <a:r>
              <a:rPr lang="en-US" altLang="zh-CN" dirty="0"/>
              <a:t>FILTER</a:t>
            </a:r>
            <a:r>
              <a:rPr lang="zh-CN" altLang="en-US" dirty="0"/>
              <a:t>列的赋值。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D6A3EF-AE10-4430-9752-7A78C6B09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332" y="3788146"/>
            <a:ext cx="5181599" cy="252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2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8A2877-550F-4774-8FCB-78F90567D62B}"/>
              </a:ext>
            </a:extLst>
          </p:cNvPr>
          <p:cNvSpPr txBox="1"/>
          <p:nvPr/>
        </p:nvSpPr>
        <p:spPr>
          <a:xfrm>
            <a:off x="513806" y="357051"/>
            <a:ext cx="8891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最终生成</a:t>
            </a:r>
            <a:r>
              <a:rPr lang="zh-CN" altLang="en-US"/>
              <a:t>的结果可参考：</a:t>
            </a:r>
            <a:r>
              <a:rPr lang="zh-CN" altLang="en-US" dirty="0">
                <a:hlinkClick r:id="rId2" action="ppaction://hlinkfile"/>
              </a:rPr>
              <a:t>见</a:t>
            </a:r>
            <a:r>
              <a:rPr lang="en-US" altLang="zh-CN" dirty="0">
                <a:hlinkClick r:id="rId2" action="ppaction://hlinkfile"/>
              </a:rPr>
              <a:t>excel</a:t>
            </a:r>
            <a:r>
              <a:rPr lang="zh-CN" altLang="en-US" dirty="0">
                <a:hlinkClick r:id="rId2" action="ppaction://hlinkfile"/>
              </a:rPr>
              <a:t>文件 </a:t>
            </a:r>
            <a:r>
              <a:rPr lang="en-US" altLang="zh-CN" dirty="0"/>
              <a:t>Z:\projects\HRS2129\HRS2129_test\csr_01\utility\metadata\t14_1-1_1_final.xlsx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844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714</Words>
  <Application>Microsoft Office PowerPoint</Application>
  <PresentationFormat>宽屏</PresentationFormat>
  <Paragraphs>38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Li~PD [李雨]</dc:creator>
  <cp:lastModifiedBy>Yu Li~PD [李雨]</cp:lastModifiedBy>
  <cp:revision>9</cp:revision>
  <dcterms:created xsi:type="dcterms:W3CDTF">2026-02-07T10:29:27Z</dcterms:created>
  <dcterms:modified xsi:type="dcterms:W3CDTF">2026-02-07T14:15:40Z</dcterms:modified>
</cp:coreProperties>
</file>